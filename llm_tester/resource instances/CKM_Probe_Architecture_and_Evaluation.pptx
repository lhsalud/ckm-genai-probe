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Orientation slide. The whole deck answers two questions: how the runtime pieces fit together, and how one patient message becomes a scored triage verdict. Tech stack listed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Component relationships. The Python code (orchestrator) is what actually runs; it calls four services. The key point: Ollama is a local server that HOSTS BOTH models — the chat LLM (llama3.1:8b) and the embedder (nomic-embed-text) — reached over HTTP on port 11434. Chroma is a SEPARATE vector database. The cross-encoder reranker is also separate (sentence-transformers), not part of Ollama. This slide is 'who talks to whom', not the temporal order — that's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has two phases. Phase A (once): the guideline PDF is extracted and chunked by PyMuPDF, each chunk embedded via Ollama's embedder, and stored in Chroma (~679 vectors). It's idempotent — re-running skips chunks already stored. Phase B (every query): embed the question, pull the top 12 by cosine similarity from Chroma, rerank with the cross-encoder to the best 5, and hand those cited chunks to the LLM. The reranker matters because embedding search is fast but coarse; the cross-encoder reads the question and passage together and is far more accurate over a shortlist.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Evaluation, part 1 — one message. triage_message() assembles four inputs: the triage-level definitions, the patient's structured EHR (format_ehr), retrieved guideline context, and the message itself. The EHR and RAG inputs each have an on/off switch — those switches produce the four ablation conditions. The LLM must return strict JSON (triage, red_flags, rationale, action), parsed tolerantly. score_one() then grades it: unparseable = failure (kept in the denominator), severity_distance gives the signed direction of the error, and reference_recall checks the rationale mentions the right clinical concepts.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Evaluation, part 2 — the numbers. Acuity is ranked 0–3, so an error has a direction: predicting too low is under-triage (dangerous), too high is over-triage (alert fatigue). summarize() reports six metrics, not just accuracy. The experiment is the 4-condition ablation (EHR toggle × RAG toggle). The decisive read is accuracy on the requires_ehr subset: if it doesn't rise from 'RAG only' to 'EHR + RAG', the model isn't using the structured data. Caveat: n=11 is for exposing failure modes, not significance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120640" cy="5120640"/>
          </a:xfrm>
          <a:prstGeom prst="ellipse">
            <a:avLst/>
          </a:prstGeom>
          <a:solidFill>
            <a:srgbClr val="12586B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383280"/>
            <a:ext cx="2926080" cy="2926080"/>
          </a:xfrm>
          <a:prstGeom prst="ellipse">
            <a:avLst/>
          </a:prstGeom>
          <a:solidFill>
            <a:srgbClr val="0F4A5A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777240"/>
            <a:ext cx="4206240" cy="292608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  <p:txBody>
          <a:bodyPr wrap="square" lIns="25400" tIns="101600" rIns="101600" bIns="2540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· EVALUATION WALKTHROUGH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CKM Probe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Ollama server, the LLM, RAG, and Chroma fit together — and how the evaluator turns one patient message into a scored triage verdict.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3611880"/>
            <a:ext cx="2137867" cy="402336"/>
          </a:xfrm>
          <a:prstGeom prst="roundRect">
            <a:avLst>
              <a:gd name="adj" fmla="val 13636"/>
            </a:avLst>
          </a:prstGeom>
          <a:solidFill>
            <a:srgbClr val="103F4C"/>
          </a:solidFill>
          <a:ln w="12700">
            <a:solidFill>
              <a:srgbClr val="1E58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611880"/>
            <a:ext cx="21378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(local server)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24835" y="3611880"/>
            <a:ext cx="1241755" cy="402336"/>
          </a:xfrm>
          <a:prstGeom prst="roundRect">
            <a:avLst>
              <a:gd name="adj" fmla="val 13636"/>
            </a:avLst>
          </a:prstGeom>
          <a:solidFill>
            <a:srgbClr val="103F4C"/>
          </a:solidFill>
          <a:ln w="12700">
            <a:solidFill>
              <a:srgbClr val="1E58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24835" y="3611880"/>
            <a:ext cx="12417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llama3.1:8b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67758" y="3611880"/>
            <a:ext cx="1689811" cy="402336"/>
          </a:xfrm>
          <a:prstGeom prst="roundRect">
            <a:avLst>
              <a:gd name="adj" fmla="val 13636"/>
            </a:avLst>
          </a:prstGeom>
          <a:solidFill>
            <a:srgbClr val="103F4C"/>
          </a:solidFill>
          <a:ln w="12700">
            <a:solidFill>
              <a:srgbClr val="1E58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67758" y="3611880"/>
            <a:ext cx="168981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nomic-embed-text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8738" y="3611880"/>
            <a:ext cx="1689811" cy="402336"/>
          </a:xfrm>
          <a:prstGeom prst="roundRect">
            <a:avLst>
              <a:gd name="adj" fmla="val 13636"/>
            </a:avLst>
          </a:prstGeom>
          <a:solidFill>
            <a:srgbClr val="103F4C"/>
          </a:solidFill>
          <a:ln w="12700">
            <a:solidFill>
              <a:srgbClr val="1E58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8738" y="3611880"/>
            <a:ext cx="168981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Chroma vector DB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49717" y="3611880"/>
            <a:ext cx="2227478" cy="402336"/>
          </a:xfrm>
          <a:prstGeom prst="roundRect">
            <a:avLst>
              <a:gd name="adj" fmla="val 13636"/>
            </a:avLst>
          </a:prstGeom>
          <a:solidFill>
            <a:srgbClr val="103F4C"/>
          </a:solidFill>
          <a:ln w="12700">
            <a:solidFill>
              <a:srgbClr val="1E58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9717" y="3611880"/>
            <a:ext cx="22274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cross-encoder reranker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4160520"/>
            <a:ext cx="883310" cy="402336"/>
          </a:xfrm>
          <a:prstGeom prst="roundRect">
            <a:avLst>
              <a:gd name="adj" fmla="val 13636"/>
            </a:avLst>
          </a:prstGeom>
          <a:solidFill>
            <a:srgbClr val="103F4C"/>
          </a:solidFill>
          <a:ln w="12700">
            <a:solidFill>
              <a:srgbClr val="1E58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160520"/>
            <a:ext cx="8833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PyMuPDF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5257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order:  </a:t>
            </a:r>
            <a:pPr indent="0" marL="0">
              <a:buNone/>
            </a:pPr>
            <a:r>
              <a:rPr lang="en-US" sz="1400" dirty="0">
                <a:solidFill>
                  <a:srgbClr val="AFC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 →  RAG in two phases  →  one message scored  →  the metrics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only · not for clinical use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108960" cy="292608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  <p:txBody>
          <a:bodyPr wrap="square" lIns="25400" tIns="101600" rIns="101600" bIns="2540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COMPONENTS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hosts what, and who calls whom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 code in Colab is the orchestrator; it drives four services. Ollama is the one that hosts BOTH models.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617720" y="320040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sx="100000" sy="100000" kx="0" ky="0" algn="bl" rotWithShape="0" blurRad="63500" dist="25400" dir="5400000">
              <a:srgbClr val="9AABB2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617720" y="334670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orchestrator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617720" y="37490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probe code (Colab, GPU)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783080"/>
            <a:ext cx="5715000" cy="1051560"/>
          </a:xfrm>
          <a:prstGeom prst="roundRect">
            <a:avLst>
              <a:gd name="adj" fmla="val 6957"/>
            </a:avLst>
          </a:prstGeom>
          <a:solidFill>
            <a:srgbClr val="103F4C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5400000">
              <a:srgbClr val="9AABB2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10712" y="1856232"/>
            <a:ext cx="5385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server</a:t>
            </a:r>
            <a:pPr algn="l" indent="0" marL="0">
              <a:buNone/>
            </a:pPr>
            <a:r>
              <a:rPr lang="en-US" sz="1100" dirty="0">
                <a:solidFill>
                  <a:srgbClr val="AFC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localhost:11434  ·  hosts both models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429000" y="2203704"/>
            <a:ext cx="2615184" cy="50292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2203704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llama3.1:8b
</a:t>
            </a:r>
            <a:endParaRPr lang="en-US" sz="12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/ generation (the LLM)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2203704"/>
            <a:ext cx="2615184" cy="50292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2203704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nomic-embed-text
</a:t>
            </a:r>
            <a:endParaRPr lang="en-US" sz="12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· 768-d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7FAFB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63500" dist="25400" dir="5400000">
              <a:srgbClr val="9AABB2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6384" y="3364992"/>
            <a:ext cx="292608" cy="292608"/>
          </a:xfrm>
          <a:prstGeom prst="ellipse">
            <a:avLst/>
          </a:prstGeom>
          <a:solidFill>
            <a:srgbClr val="B07A1E"/>
          </a:solidFill>
          <a:ln/>
        </p:spPr>
      </p:sp>
      <p:sp>
        <p:nvSpPr>
          <p:cNvPr id="16" name="Text 14"/>
          <p:cNvSpPr/>
          <p:nvPr/>
        </p:nvSpPr>
        <p:spPr>
          <a:xfrm>
            <a:off x="1152144" y="331927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" y="3703320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+ chunks the guideline PDF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235440" y="320040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F7FAFB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63500" dist="25400" dir="5400000">
              <a:srgbClr val="9AABB2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381744" y="3364992"/>
            <a:ext cx="292608" cy="292608"/>
          </a:xfrm>
          <a:prstGeom prst="ellipse">
            <a:avLst/>
          </a:prstGeom>
          <a:solidFill>
            <a:srgbClr val="5B4E86"/>
          </a:solidFill>
          <a:ln/>
        </p:spPr>
      </p:sp>
      <p:sp>
        <p:nvSpPr>
          <p:cNvPr id="20" name="Text 18"/>
          <p:cNvSpPr/>
          <p:nvPr/>
        </p:nvSpPr>
        <p:spPr>
          <a:xfrm>
            <a:off x="9747504" y="33192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400032" y="370332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(cosine) · id · text · vector · {source, page}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507492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7FAFB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63500" dist="25400" dir="5400000">
              <a:srgbClr val="9AABB2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64024" y="5221224"/>
            <a:ext cx="292608" cy="292608"/>
          </a:xfrm>
          <a:prstGeom prst="ellipse">
            <a:avLst/>
          </a:prstGeom>
          <a:solidFill>
            <a:srgbClr val="2E7D62"/>
          </a:solidFill>
          <a:ln/>
        </p:spPr>
      </p:sp>
      <p:sp>
        <p:nvSpPr>
          <p:cNvPr id="24" name="Text 22"/>
          <p:cNvSpPr/>
          <p:nvPr/>
        </p:nvSpPr>
        <p:spPr>
          <a:xfrm>
            <a:off x="5129784" y="517550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82312" y="553212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ms-marco-MiniLM · sentence-transformers (separate from Ollama)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03620" y="2834640"/>
            <a:ext cx="0" cy="36576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headEnd type="triangl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4503420" y="28712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/api/chat  ·  /api/embed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971800" y="3726180"/>
            <a:ext cx="1645920" cy="0"/>
          </a:xfrm>
          <a:prstGeom prst="line">
            <a:avLst/>
          </a:prstGeom>
          <a:noFill/>
          <a:ln w="28575">
            <a:solidFill>
              <a:srgbClr val="B07A1E"/>
            </a:solidFill>
            <a:prstDash val="solid"/>
            <a:headEnd type="triangl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2990088" y="34152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7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/ chunk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589520" y="3726180"/>
            <a:ext cx="1645920" cy="0"/>
          </a:xfrm>
          <a:prstGeom prst="line">
            <a:avLst/>
          </a:prstGeom>
          <a:noFill/>
          <a:ln w="28575">
            <a:solidFill>
              <a:srgbClr val="5B4E86"/>
            </a:solidFill>
            <a:prstDash val="solid"/>
            <a:headEnd type="triangl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7607808" y="34152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4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upsert / query (k=12)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03620" y="4251960"/>
            <a:ext cx="0" cy="822960"/>
          </a:xfrm>
          <a:prstGeom prst="line">
            <a:avLst/>
          </a:prstGeom>
          <a:noFill/>
          <a:ln w="28575">
            <a:solidFill>
              <a:srgbClr val="2E7D62"/>
            </a:solidFill>
            <a:prstDash val="solid"/>
            <a:headEnd type="triangl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6213348" y="45171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E7D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 → keep 5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6263640"/>
            <a:ext cx="11109960" cy="457200"/>
          </a:xfrm>
          <a:prstGeom prst="roundRect">
            <a:avLst>
              <a:gd name="adj" fmla="val 10000"/>
            </a:avLst>
          </a:prstGeom>
          <a:solidFill>
            <a:srgbClr val="EEF3F5"/>
          </a:solidFill>
          <a:ln w="12700">
            <a:solidFill>
              <a:srgbClr val="C9D6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6263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relationship:  </a:t>
            </a:r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hosts both the LLM and the embedder; Chroma stores what the embedder produces; the reranker refines what Chroma returns. RAG is the pattern that chains them (next slide).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108960" cy="292608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  <p:txBody>
          <a:bodyPr wrap="square" lIns="25400" tIns="101600" rIns="101600" bIns="2540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RAG RUNS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Retrieval-augmented generation, in two phases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 fills Chroma once. Phase B runs on every question: embed → search → rerank → ground the LLM.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3840480" cy="292608"/>
          </a:xfrm>
          <a:prstGeom prst="roundRect">
            <a:avLst>
              <a:gd name="adj" fmla="val 12500"/>
            </a:avLst>
          </a:prstGeom>
          <a:solidFill>
            <a:srgbClr val="B07A1E"/>
          </a:solidFill>
          <a:ln/>
        </p:spPr>
        <p:txBody>
          <a:bodyPr wrap="square" lIns="25400" tIns="101600" rIns="101600" bIns="2540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 · INGEST ONCE  (IDEMPOTENT)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874520" cy="1005840"/>
          </a:xfrm>
          <a:prstGeom prst="roundRect">
            <a:avLst>
              <a:gd name="adj" fmla="val 7273"/>
            </a:avLst>
          </a:prstGeom>
          <a:solidFill>
            <a:srgbClr val="F7FAFB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63500" dist="25400" dir="5400000">
              <a:srgbClr val="9AABB2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36829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 PDF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7157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ndumele CKM · ~109 pp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68880" y="2743200"/>
            <a:ext cx="292608" cy="0"/>
          </a:xfrm>
          <a:prstGeom prst="line">
            <a:avLst/>
          </a:prstGeom>
          <a:noFill/>
          <a:ln w="25400">
            <a:solidFill>
              <a:srgbClr val="5A6672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07208" y="2240280"/>
            <a:ext cx="1874520" cy="1005840"/>
          </a:xfrm>
          <a:prstGeom prst="roundRect">
            <a:avLst>
              <a:gd name="adj" fmla="val 7273"/>
            </a:avLst>
          </a:prstGeom>
          <a:solidFill>
            <a:srgbClr val="F7FAFB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63500" dist="25400" dir="5400000">
              <a:srgbClr val="9AABB2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98648" y="236829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898648" y="27157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+ _clean pages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27448" y="2743200"/>
            <a:ext cx="292608" cy="0"/>
          </a:xfrm>
          <a:prstGeom prst="line">
            <a:avLst/>
          </a:prstGeom>
          <a:noFill/>
          <a:ln w="25400">
            <a:solidFill>
              <a:srgbClr val="5A667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65776" y="2240280"/>
            <a:ext cx="1874520" cy="1005840"/>
          </a:xfrm>
          <a:prstGeom prst="roundRect">
            <a:avLst>
              <a:gd name="adj" fmla="val 7273"/>
            </a:avLst>
          </a:prstGeom>
          <a:solidFill>
            <a:srgbClr val="F7FAFB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63500" dist="25400" dir="5400000">
              <a:srgbClr val="9AABB2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57216" y="236829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chunk_page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157216" y="27157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~1200 chars, 200 overlap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SHA-1 id per chunk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86016" y="2743200"/>
            <a:ext cx="292608" cy="0"/>
          </a:xfrm>
          <a:prstGeom prst="line">
            <a:avLst/>
          </a:prstGeom>
          <a:noFill/>
          <a:ln w="25400">
            <a:solidFill>
              <a:srgbClr val="5A667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24344" y="2240280"/>
            <a:ext cx="187452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5400000">
              <a:srgbClr val="9AABB2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15784" y="236829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nomic-embed-text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415784" y="27157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6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Ollama /api/embed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244584" y="2743200"/>
            <a:ext cx="292608" cy="0"/>
          </a:xfrm>
          <a:prstGeom prst="line">
            <a:avLst/>
          </a:prstGeom>
          <a:noFill/>
          <a:ln w="25400">
            <a:solidFill>
              <a:srgbClr val="5A6672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582912" y="2240280"/>
            <a:ext cx="1874520" cy="1005840"/>
          </a:xfrm>
          <a:prstGeom prst="roundRect">
            <a:avLst>
              <a:gd name="adj" fmla="val 7273"/>
            </a:avLst>
          </a:prstGeom>
          <a:solidFill>
            <a:srgbClr val="5B4E86"/>
          </a:solidFill>
          <a:ln w="12700">
            <a:solidFill>
              <a:srgbClr val="5B4E86"/>
            </a:solidFill>
            <a:prstDash val="solid"/>
          </a:ln>
          <a:effectLst>
            <a:outerShdw sx="100000" sy="100000" kx="0" ky="0" algn="bl" rotWithShape="0" blurRad="63500" dist="25400" dir="5400000">
              <a:srgbClr val="9AABB2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74352" y="236829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674352" y="27157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6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→ ~679 vectors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3794760"/>
            <a:ext cx="2743200" cy="292608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  <p:txBody>
          <a:bodyPr wrap="square" lIns="25400" tIns="101600" rIns="101600" bIns="2540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 · EVERY QUERY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16052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F7FAFB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63500" dist="25400" dir="5400000">
              <a:srgbClr val="9AABB2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4288536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463600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+ patient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03704" y="4686300"/>
            <a:ext cx="219456" cy="0"/>
          </a:xfrm>
          <a:prstGeom prst="line">
            <a:avLst/>
          </a:prstGeom>
          <a:noFill/>
          <a:ln w="25400">
            <a:solidFill>
              <a:srgbClr val="5A6672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450592" y="416052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5400000">
              <a:srgbClr val="9AABB2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542032" y="4288536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542032" y="463600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6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nomic-embed-text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6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(Ollama)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05656" y="4686300"/>
            <a:ext cx="219456" cy="0"/>
          </a:xfrm>
          <a:prstGeom prst="line">
            <a:avLst/>
          </a:prstGeom>
          <a:noFill/>
          <a:ln w="25400">
            <a:solidFill>
              <a:srgbClr val="5A6672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352544" y="416052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5B4E86"/>
          </a:solidFill>
          <a:ln w="12700">
            <a:solidFill>
              <a:srgbClr val="5B4E86"/>
            </a:solidFill>
            <a:prstDash val="solid"/>
          </a:ln>
          <a:effectLst>
            <a:outerShdw sx="100000" sy="100000" kx="0" ky="0" algn="bl" rotWithShape="0" blurRad="63500" dist="25400" dir="5400000">
              <a:srgbClr val="9AABB2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443984" y="4288536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search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443984" y="463600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6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· top-12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6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007608" y="4686300"/>
            <a:ext cx="219456" cy="0"/>
          </a:xfrm>
          <a:prstGeom prst="line">
            <a:avLst/>
          </a:prstGeom>
          <a:noFill/>
          <a:ln w="25400">
            <a:solidFill>
              <a:srgbClr val="5A6672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254496" y="416052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2E7D62"/>
          </a:solidFill>
          <a:ln w="12700">
            <a:solidFill>
              <a:srgbClr val="2E7D62"/>
            </a:solidFill>
            <a:prstDash val="solid"/>
          </a:ln>
          <a:effectLst>
            <a:outerShdw sx="100000" sy="100000" kx="0" ky="0" algn="bl" rotWithShape="0" blurRad="63500" dist="25400" dir="5400000">
              <a:srgbClr val="9AABB2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345936" y="4288536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345936" y="463600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6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6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top-5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909560" y="4686300"/>
            <a:ext cx="219456" cy="0"/>
          </a:xfrm>
          <a:prstGeom prst="line">
            <a:avLst/>
          </a:prstGeom>
          <a:noFill/>
          <a:ln w="25400">
            <a:solidFill>
              <a:srgbClr val="5A6672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156448" y="416052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F7FAFB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63500" dist="25400" dir="5400000">
              <a:srgbClr val="9AABB2">
                <a:alpha val="2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247888" y="4288536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[S#] context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8247888" y="463600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cited chunks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+ page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811512" y="4686300"/>
            <a:ext cx="219456" cy="0"/>
          </a:xfrm>
          <a:prstGeom prst="line">
            <a:avLst/>
          </a:prstGeom>
          <a:noFill/>
          <a:ln w="25400">
            <a:solidFill>
              <a:srgbClr val="5A6672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10058400" y="416052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5400000">
              <a:srgbClr val="9AABB2">
                <a:alpha val="2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0149840" y="4288536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llama3.1:8b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10149840" y="463600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6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cited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6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/ verdict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48640" y="5532120"/>
            <a:ext cx="11109960" cy="1051560"/>
          </a:xfrm>
          <a:prstGeom prst="roundRect">
            <a:avLst>
              <a:gd name="adj" fmla="val 5217"/>
            </a:avLst>
          </a:prstGeom>
          <a:solidFill>
            <a:srgbClr val="EEF3F5"/>
          </a:solidFill>
          <a:ln w="12700">
            <a:solidFill>
              <a:srgbClr val="C9D6D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2960" y="5596128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reranker earns its place.  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Chroma's embedding search compares the question and each passage encoded independently — fast, wide net (12). The cross-encoder then reads each (question, passage) pair together — slower but far more accurate — and keeps the best 5. </a:t>
            </a:r>
            <a:pPr indent="0" marL="0">
              <a:lnSpc>
                <a:spcPct val="102000"/>
              </a:lnSpc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 tells the LLM to answer only from those chunks, cite every claim with [S#], and admit when the answer isn’t there.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108960" cy="292608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  <p:txBody>
          <a:bodyPr wrap="square" lIns="25400" tIns="101600" rIns="101600" bIns="2540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· PART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message → one scored verdict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triage_message() assembles four inputs into a strict-JSON request; score_one() grades the reply against the expected label.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200400" cy="749808"/>
          </a:xfrm>
          <a:prstGeom prst="roundRect">
            <a:avLst>
              <a:gd name="adj" fmla="val 9756"/>
            </a:avLst>
          </a:prstGeom>
          <a:solidFill>
            <a:srgbClr val="F7FAFB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63500" dist="25400" dir="5400000">
              <a:srgbClr val="9AABB2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109728" cy="749808"/>
          </a:xfrm>
          <a:prstGeom prst="roundRect">
            <a:avLst>
              <a:gd name="adj" fmla="val 25000"/>
            </a:avLst>
          </a:prstGeom>
          <a:solidFill>
            <a:srgbClr val="0B3C49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574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level definitions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36829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/ URGENT / ROUTINE / SELF_CARE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862072"/>
            <a:ext cx="3200400" cy="749808"/>
          </a:xfrm>
          <a:prstGeom prst="roundRect">
            <a:avLst>
              <a:gd name="adj" fmla="val 9756"/>
            </a:avLst>
          </a:prstGeom>
          <a:solidFill>
            <a:srgbClr val="F7FAFB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63500" dist="25400" dir="5400000">
              <a:srgbClr val="9AABB2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862072"/>
            <a:ext cx="109728" cy="749808"/>
          </a:xfrm>
          <a:prstGeom prst="roundRect">
            <a:avLst>
              <a:gd name="adj" fmla="val 25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95351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EHR (structured)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" y="32644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· meds · vitals · labs  —  format_ehr()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35808" y="3081528"/>
            <a:ext cx="603504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3035808" y="3081528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use_ehr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8640" y="3758184"/>
            <a:ext cx="3200400" cy="749808"/>
          </a:xfrm>
          <a:prstGeom prst="roundRect">
            <a:avLst>
              <a:gd name="adj" fmla="val 9756"/>
            </a:avLst>
          </a:prstGeom>
          <a:solidFill>
            <a:srgbClr val="F7FAFB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63500" dist="25400" dir="5400000">
              <a:srgbClr val="9AABB2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758184"/>
            <a:ext cx="109728" cy="749808"/>
          </a:xfrm>
          <a:prstGeom prst="roundRect">
            <a:avLst>
              <a:gd name="adj" fmla="val 25000"/>
            </a:avLst>
          </a:prstGeom>
          <a:solidFill>
            <a:srgbClr val="5B4E86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8496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 context [S#]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41605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retrieve() → 5 cited chunks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35808" y="3977640"/>
            <a:ext cx="603504" cy="329184"/>
          </a:xfrm>
          <a:prstGeom prst="roundRect">
            <a:avLst>
              <a:gd name="adj" fmla="val 13889"/>
            </a:avLst>
          </a:prstGeom>
          <a:solidFill>
            <a:srgbClr val="5B4E86"/>
          </a:solidFill>
          <a:ln/>
        </p:spPr>
      </p:sp>
      <p:sp>
        <p:nvSpPr>
          <p:cNvPr id="20" name="Text 18"/>
          <p:cNvSpPr/>
          <p:nvPr/>
        </p:nvSpPr>
        <p:spPr>
          <a:xfrm>
            <a:off x="3035808" y="3977640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use_rag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3200400" cy="749808"/>
          </a:xfrm>
          <a:prstGeom prst="roundRect">
            <a:avLst>
              <a:gd name="adj" fmla="val 9756"/>
            </a:avLst>
          </a:prstGeom>
          <a:solidFill>
            <a:srgbClr val="F7FAFB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63500" dist="25400" dir="5400000">
              <a:srgbClr val="9AABB2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4654296"/>
            <a:ext cx="109728" cy="749808"/>
          </a:xfrm>
          <a:prstGeom prst="roundRect">
            <a:avLst>
              <a:gd name="adj" fmla="val 25000"/>
            </a:avLst>
          </a:prstGeom>
          <a:solidFill>
            <a:srgbClr val="C0431F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474573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 message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4672" y="50566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free-text inquiry + sent time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55686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0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Ablation switches:  </a:t>
            </a:r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EHR and RAG inputs can each be withheld, giving the 4 conditions.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60520" y="21488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EEF3F5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63500" dist="25400" dir="5400000">
              <a:srgbClr val="9AABB2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160520" y="2240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prompt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270248" y="2542032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system: “weigh EHR as heavily as the words”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60520" y="342900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5400000">
              <a:srgbClr val="9AABB2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160520" y="35204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llama3.1:8b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16052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A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 0 · seed 42  (deterministic)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60520" y="4663440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0F3A46"/>
          </a:solidFill>
          <a:ln w="12700">
            <a:solidFill>
              <a:srgbClr val="0B3C49"/>
            </a:solidFill>
            <a:prstDash val="solid"/>
          </a:ln>
          <a:effectLst>
            <a:outerShdw sx="100000" sy="100000" kx="0" ky="0" algn="bl" rotWithShape="0" blurRad="63500" dist="25400" dir="5400000">
              <a:srgbClr val="9AABB2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16052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JSON verdict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288536" y="5029200"/>
            <a:ext cx="2048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F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triage
</a:t>
            </a:r>
            <a:endParaRPr lang="en-US" sz="9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F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red_flags[ ]
</a:t>
            </a:r>
            <a:endParaRPr lang="en-US" sz="9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F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rationale (cites EHR + [S#])
</a:t>
            </a:r>
            <a:endParaRPr lang="en-US" sz="9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F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recommended_action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794760" y="2606040"/>
            <a:ext cx="320040" cy="0"/>
          </a:xfrm>
          <a:prstGeom prst="line">
            <a:avLst/>
          </a:prstGeom>
          <a:noFill/>
          <a:ln w="31750">
            <a:solidFill>
              <a:srgbClr val="5A6672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303520" y="3063240"/>
            <a:ext cx="0" cy="347472"/>
          </a:xfrm>
          <a:prstGeom prst="line">
            <a:avLst/>
          </a:prstGeom>
          <a:noFill/>
          <a:ln w="31750">
            <a:solidFill>
              <a:srgbClr val="0B3C49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303520" y="4297680"/>
            <a:ext cx="0" cy="347472"/>
          </a:xfrm>
          <a:prstGeom prst="line">
            <a:avLst/>
          </a:prstGeom>
          <a:noFill/>
          <a:ln w="31750">
            <a:solidFill>
              <a:srgbClr val="0B3C49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949440" y="2148840"/>
            <a:ext cx="4709160" cy="3931920"/>
          </a:xfrm>
          <a:prstGeom prst="roundRect">
            <a:avLst>
              <a:gd name="adj" fmla="val 1860"/>
            </a:avLst>
          </a:prstGeom>
          <a:solidFill>
            <a:srgbClr val="F7FAFB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63500" dist="25400" dir="5400000">
              <a:srgbClr val="9AABB2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178040" y="2331720"/>
            <a:ext cx="310896" cy="310896"/>
          </a:xfrm>
          <a:prstGeom prst="ellipse">
            <a:avLst/>
          </a:prstGeom>
          <a:solidFill>
            <a:srgbClr val="2E7D62"/>
          </a:solidFill>
          <a:ln/>
        </p:spPr>
      </p:sp>
      <p:sp>
        <p:nvSpPr>
          <p:cNvPr id="40" name="Text 38"/>
          <p:cNvSpPr/>
          <p:nvPr/>
        </p:nvSpPr>
        <p:spPr>
          <a:xfrm>
            <a:off x="7589520" y="230428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score_one( )  — verdict vs. expected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7205472" y="283464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_parse_json_response( )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code-fences, else grabs the outermost { … }. Unparseable output counts as a failure — it stays in the denominator, so a model can’t score well by dodging.
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severity_distance = rank(pred) − rank(expected)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→ UNDER-triage (dangerous) · positive → OVER-triage (alert fatigue) · 0 → exact.
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reference_recall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fraction of the item’s must_reference clinical terms that appear in the rationale/action. Catches a right label reached for the wrong reason.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over all 11 messages → a per-message table → summarize( ) rolls up the metrics.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2926080" cy="292608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  <p:txBody>
          <a:bodyPr wrap="square" lIns="25400" tIns="101600" rIns="101600" bIns="2540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· PART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numbers mean — and the experiment they serve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can’t tell you why the system works. Six metrics + a 4-condition ablation separate the contributions.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Acuity is ranked, so errors have a direction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200400" cy="566928"/>
          </a:xfrm>
          <a:prstGeom prst="roundRect">
            <a:avLst>
              <a:gd name="adj" fmla="val 8065"/>
            </a:avLst>
          </a:prstGeom>
          <a:solidFill>
            <a:srgbClr val="103F4C"/>
          </a:solidFill>
          <a:ln w="12700">
            <a:solidFill>
              <a:srgbClr val="1E58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286000"/>
            <a:ext cx="640080" cy="566928"/>
          </a:xfrm>
          <a:prstGeom prst="roundRect">
            <a:avLst>
              <a:gd name="adj" fmla="val 8065"/>
            </a:avLst>
          </a:prstGeom>
          <a:solidFill>
            <a:srgbClr val="C0431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8600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22860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E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EMERGENT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3200400" cy="566928"/>
          </a:xfrm>
          <a:prstGeom prst="roundRect">
            <a:avLst>
              <a:gd name="adj" fmla="val 8065"/>
            </a:avLst>
          </a:prstGeom>
          <a:solidFill>
            <a:srgbClr val="103F4C"/>
          </a:solidFill>
          <a:ln w="12700">
            <a:solidFill>
              <a:srgbClr val="1E58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926080"/>
            <a:ext cx="640080" cy="566928"/>
          </a:xfrm>
          <a:prstGeom prst="roundRect">
            <a:avLst>
              <a:gd name="adj" fmla="val 8065"/>
            </a:avLst>
          </a:prstGeom>
          <a:solidFill>
            <a:srgbClr val="D98A3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2608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25880" y="29260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E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URGENT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3200400" cy="566928"/>
          </a:xfrm>
          <a:prstGeom prst="roundRect">
            <a:avLst>
              <a:gd name="adj" fmla="val 8065"/>
            </a:avLst>
          </a:prstGeom>
          <a:solidFill>
            <a:srgbClr val="103F4C"/>
          </a:solidFill>
          <a:ln w="12700">
            <a:solidFill>
              <a:srgbClr val="1E58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566160"/>
            <a:ext cx="640080" cy="566928"/>
          </a:xfrm>
          <a:prstGeom prst="roundRect">
            <a:avLst>
              <a:gd name="adj" fmla="val 8065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56616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25880" y="35661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E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ROUTINE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206240"/>
            <a:ext cx="3200400" cy="566928"/>
          </a:xfrm>
          <a:prstGeom prst="roundRect">
            <a:avLst>
              <a:gd name="adj" fmla="val 8065"/>
            </a:avLst>
          </a:prstGeom>
          <a:solidFill>
            <a:srgbClr val="103F4C"/>
          </a:solidFill>
          <a:ln w="12700">
            <a:solidFill>
              <a:srgbClr val="1E58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206240"/>
            <a:ext cx="640080" cy="566928"/>
          </a:xfrm>
          <a:prstGeom prst="roundRect">
            <a:avLst>
              <a:gd name="adj" fmla="val 8065"/>
            </a:avLst>
          </a:prstGeom>
          <a:solidFill>
            <a:srgbClr val="2E7D6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20624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25880" y="42062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E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SELF_CARE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023360" y="2331720"/>
            <a:ext cx="0" cy="2148840"/>
          </a:xfrm>
          <a:prstGeom prst="line">
            <a:avLst/>
          </a:prstGeom>
          <a:noFill/>
          <a:ln w="31750">
            <a:solidFill>
              <a:srgbClr val="C0431F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133088" y="2834640"/>
            <a:ext cx="713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0B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</a:t>
            </a:r>
            <a:endParaRPr lang="en-US" sz="9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0B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9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0B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(worse)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920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summarize( ) reports six things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92040" y="2286000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103F4C"/>
          </a:solidFill>
          <a:ln w="12700">
            <a:solidFill>
              <a:srgbClr val="1E58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38344" y="2404872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349240" y="2304288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349240" y="2523744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label match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92040" y="2798064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103F4C"/>
          </a:solidFill>
          <a:ln w="12700">
            <a:solidFill>
              <a:srgbClr val="1E58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38344" y="2916936"/>
            <a:ext cx="201168" cy="201168"/>
          </a:xfrm>
          <a:prstGeom prst="ellipse">
            <a:avLst/>
          </a:prstGeom>
          <a:solidFill>
            <a:srgbClr val="C0431F"/>
          </a:solidFill>
          <a:ln/>
        </p:spPr>
      </p:sp>
      <p:sp>
        <p:nvSpPr>
          <p:cNvPr id="31" name="Text 29"/>
          <p:cNvSpPr/>
          <p:nvPr/>
        </p:nvSpPr>
        <p:spPr>
          <a:xfrm>
            <a:off x="5349240" y="2816352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under_triage_rate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49240" y="3035808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too low — harmful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92040" y="3310128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103F4C"/>
          </a:solidFill>
          <a:ln w="12700">
            <a:solidFill>
              <a:srgbClr val="1E58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38344" y="342900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5349240" y="3328416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over_triage_rate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349240" y="3547872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too high — noise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92040" y="3822192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103F4C"/>
          </a:solidFill>
          <a:ln w="12700">
            <a:solidFill>
              <a:srgbClr val="1E58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38344" y="3941064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9" name="Text 37"/>
          <p:cNvSpPr/>
          <p:nvPr/>
        </p:nvSpPr>
        <p:spPr>
          <a:xfrm>
            <a:off x="5349240" y="3840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|severity_distance|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349240" y="4059936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near-miss vs wild miss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92040" y="4334256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103F4C"/>
          </a:solidFill>
          <a:ln w="12700">
            <a:solidFill>
              <a:srgbClr val="1E586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38344" y="4453128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3" name="Text 41"/>
          <p:cNvSpPr/>
          <p:nvPr/>
        </p:nvSpPr>
        <p:spPr>
          <a:xfrm>
            <a:off x="5349240" y="435254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reference_recall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349240" y="4572000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reasons cited?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92040" y="4846320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103F4C"/>
          </a:solidFill>
          <a:ln w="12700">
            <a:solidFill>
              <a:srgbClr val="1E586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38344" y="4965192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7" name="Text 45"/>
          <p:cNvSpPr/>
          <p:nvPr/>
        </p:nvSpPr>
        <p:spPr>
          <a:xfrm>
            <a:off x="5349240" y="4864608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parse_failure_rate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349240" y="5084064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JSON = failure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41248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experiment: a 4-condition ablation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869680" y="2404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FC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→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 rot="16200000">
            <a:off x="8302752" y="34290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FC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869680" y="2697480"/>
            <a:ext cx="1371600" cy="822960"/>
          </a:xfrm>
          <a:prstGeom prst="roundRect">
            <a:avLst>
              <a:gd name="adj" fmla="val 5556"/>
            </a:avLst>
          </a:prstGeom>
          <a:solidFill>
            <a:srgbClr val="103F4C"/>
          </a:solidFill>
          <a:ln w="12700">
            <a:solidFill>
              <a:srgbClr val="1E586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869680" y="2825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8869680" y="3099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 / −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0296144" y="2697480"/>
            <a:ext cx="1371600" cy="822960"/>
          </a:xfrm>
          <a:prstGeom prst="roundRect">
            <a:avLst>
              <a:gd name="adj" fmla="val 5556"/>
            </a:avLst>
          </a:prstGeom>
          <a:solidFill>
            <a:srgbClr val="103F4C"/>
          </a:solidFill>
          <a:ln w="12700">
            <a:solidFill>
              <a:srgbClr val="1E586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296144" y="2825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only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10296144" y="3099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 / ✓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869680" y="3575304"/>
            <a:ext cx="1371600" cy="822960"/>
          </a:xfrm>
          <a:prstGeom prst="roundRect">
            <a:avLst>
              <a:gd name="adj" fmla="val 5556"/>
            </a:avLst>
          </a:prstGeom>
          <a:solidFill>
            <a:srgbClr val="103F4C"/>
          </a:solidFill>
          <a:ln w="12700">
            <a:solidFill>
              <a:srgbClr val="1E586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86968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only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8869680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/ −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10296144" y="3575304"/>
            <a:ext cx="1371600" cy="822960"/>
          </a:xfrm>
          <a:prstGeom prst="roundRect">
            <a:avLst>
              <a:gd name="adj" fmla="val 5556"/>
            </a:avLst>
          </a:prstGeom>
          <a:solidFill>
            <a:srgbClr val="12463F"/>
          </a:solidFill>
          <a:ln w="19050">
            <a:solidFill>
              <a:srgbClr val="2E7D6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296144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+ RAG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10296144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/ ✓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8869680" y="4507992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(EHR toggle × RAG toggle)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48640" y="5440680"/>
            <a:ext cx="11109960" cy="1188720"/>
          </a:xfrm>
          <a:prstGeom prst="roundRect">
            <a:avLst>
              <a:gd name="adj" fmla="val 4615"/>
            </a:avLst>
          </a:prstGeom>
          <a:solidFill>
            <a:srgbClr val="5A2A1C"/>
          </a:solidFill>
          <a:ln w="19050">
            <a:solidFill>
              <a:srgbClr val="C0431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22960" y="548640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FF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decisive read.  </a:t>
            </a:r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FB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four conditions on the same 11 messages (44 generations, same seed), then look at accuracy on the </a:t>
            </a:r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FFD9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requires_ehr</a:t>
            </a:r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FB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subset. If it doesn’t rise from “RAG only” to “EHR + RAG,” the model isn’t actually using the structured data — no matter how strong the headline accuracy looks. </a:t>
            </a:r>
            <a:pPr indent="0" marL="0">
              <a:lnSpc>
                <a:spcPct val="103000"/>
              </a:lnSpc>
              <a:buNone/>
            </a:pPr>
            <a:r>
              <a:rPr lang="en-US" sz="1200" i="1" dirty="0">
                <a:solidFill>
                  <a:srgbClr val="F0B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 n = 11, one flipped item ≈ 9 points — the corpus exposes failure modes; it is not yet powered for significance.)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2026-07-19T02:36:57Z</dcterms:created>
  <dcterms:modified xsi:type="dcterms:W3CDTF">2026-07-19T02:36:57Z</dcterms:modified>
</cp:coreProperties>
</file>